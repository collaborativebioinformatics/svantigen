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1" r:id="rId4"/>
    <p:sldId id="263" r:id="rId5"/>
    <p:sldId id="262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49055-C5FC-F24A-A05F-1BF233B077A2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62F14-A4B6-1D4F-9ACC-DFC1AC8B2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3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Arm 2 asks 'which known driver does this patient have'. Arm 3 asks 'what does this patient have that nobody has seen'. Different failure modes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piece that actually runs today. The .gbz plus the three index files are exactly what giraffe needs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least finished arm. Say so plainly - the graph-aware caller is the part that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Sniffles2 came in through a community PR and is the most complete module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Put this up if anyone asks how finished it really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8CC6-11B4-6C55-E726-E9CC09572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28DE8-4CF2-99D8-E992-9ADC7472E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0D190-E1FC-16EB-8DAB-EC5F70065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4E1F9-3E26-3FCA-87F2-EDA4D8B2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CCE6-AA47-4E32-95A0-CE68CC52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6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456B-9FFA-A691-B967-8DB652EC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53CF-A8B8-218E-AE15-A427E37C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4EB5-7F33-2390-5C02-CE1A555A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8FE9E-C4B8-7CA8-C0FA-9B31D717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01795-22D5-63EC-9D1C-2C45F0DB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8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3FC6-B2D7-E1AE-D9ED-F1F11D0B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24D9A-D7EC-BDA1-1D0A-BAF721E3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DBB2-BF14-77BA-F271-FFF94554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18F6-C77A-58FA-115D-00B4B313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3BC19-9E22-0122-FE34-B339D301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9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CECB-401C-6959-6B37-9888591A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D70C-26A3-BC47-B54E-107EAFDF1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D221-8661-68D0-7BAE-9BDCD77C7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5D196-EBBA-82E0-8275-AB3D7388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F1E61-C361-E275-FC73-F1C96DC3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A46AE-DF52-7A9A-3224-99473BD7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0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83A3-AD44-9929-07C1-1540828E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F55B5-30F2-2380-3AE0-A97938037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DE34A-36A9-48D9-3B08-07FF89764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1FA60-5CCB-CCEB-BD18-A81207771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1F7EE-26F4-149B-083B-5782F33D6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D7D29-8B2B-BB6A-27C2-2082D627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BEAF7-F4B4-CBAA-956A-9EFCC7E3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A4D90-3EE7-DB85-2C50-5F7CDF87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1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DC3-3441-1DA3-893E-17FFE0013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50DF1-56C5-583B-819E-40F024E5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EF2BC-AD3B-E8F2-9305-C7EFDD44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F67F3-61FA-C9FB-B185-D5DC1AF1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98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FEE28-D788-89A8-9C4B-0E5682FB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E2A74-78D6-9B9C-C25B-DF9A9323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424B3-4041-004B-D314-4F96BED8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1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3E6E-C803-99D4-4959-7F20D6DA8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9632-1281-9571-6E7A-5FE1F8827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50141-53F9-22E2-DA2C-6B09B7830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D249-C910-B378-9BB5-3123D244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AEA7E-D81A-DEC7-43F2-8D58E475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D2D33-7CF2-7690-B864-17626461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6E973-9B49-AED1-64D6-6BBD76065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D17ED-43AC-E155-BD28-BCBC30C34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E7957-11B1-092F-F981-273FEB5D1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B2CB9-4F7F-387C-641E-B4049897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908E4-5531-C0A8-3DBA-F3B12C1C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3D556-5C00-66FC-7CAE-11433F08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0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56E0-D6F5-C4AC-DEC3-98115754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A7618-5C92-5848-C882-21ED10BC0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82DC-28C2-AD2B-2353-E13FEC52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5AE3-9CB6-6210-A2C9-A6BF25EA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1FDF-63F5-84D5-37F5-ED73A2D5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4341D-AC64-ABB2-EA09-6F9C43BA2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08970-E1A9-484A-5BFE-D2AF4F5E5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0E5B-011C-D731-E42C-FE8AAAEA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DF6D6-FBFE-2960-21A7-85F8C8EB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2D663-52F6-10C3-36D0-2E868747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7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A8372-304B-DA8D-9A95-0E552ED0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ABBC3-F818-0BEF-AFC2-0B9DD779A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5571-9347-B7C4-FE21-F7E3A5351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E85FC-373C-3945-A001-ED2DEF9A764B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B77BC-6B30-FB2F-8EB5-141E837FF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B4738-47BB-AEAB-D5C3-9E1D5604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22E7B-04C6-4045-BCF7-F9B819C94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71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19DA-70C4-F9C1-C14D-1EFEAE769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Cambria" panose="02040503050406030204" pitchFamily="18" charset="0"/>
                <a:cs typeface="Calibri" panose="020F0502020204030204" pitchFamily="34" charset="0"/>
              </a:rPr>
              <a:t>SVantigen</a:t>
            </a:r>
            <a:r>
              <a:rPr lang="en-US" b="1" dirty="0">
                <a:latin typeface="Cambria" panose="02040503050406030204" pitchFamily="18" charset="0"/>
                <a:cs typeface="Calibri" panose="020F0502020204030204" pitchFamily="34" charset="0"/>
              </a:rPr>
              <a:t>: Group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92BDA-8F3F-0270-3B31-29E071E06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Identifying candidate neoantigens and druggable mutations in SV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2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452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213">
                <a:solidFill>
                  <a:srgbClr val="D9822B"/>
                </a:solidFill>
                <a:latin typeface="Calibri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5904"/>
            <a:ext cx="10972800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23232B"/>
                </a:solidFill>
                <a:latin typeface="Cambria"/>
              </a:rPr>
              <a:t>Two orthogonal calling arms, one somatic 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779775"/>
            <a:ext cx="3108960" cy="1243584"/>
          </a:xfrm>
          <a:prstGeom prst="roundRect">
            <a:avLst>
              <a:gd name="adj" fmla="val 8823"/>
            </a:avLst>
          </a:prstGeom>
          <a:solidFill>
            <a:srgbClr val="8A2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04672" y="2821891"/>
            <a:ext cx="2718816" cy="1159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33" b="1" dirty="0">
                <a:solidFill>
                  <a:srgbClr val="FFFFFF"/>
                </a:solidFill>
                <a:latin typeface="Calibri"/>
              </a:rPr>
              <a:t>1  </a:t>
            </a:r>
            <a:r>
              <a:rPr sz="1533" b="1" dirty="0">
                <a:solidFill>
                  <a:srgbClr val="FFFFFF"/>
                </a:solidFill>
                <a:latin typeface="Courier New"/>
              </a:rPr>
              <a:t>BUILD_DRIVER_
PANGENOME</a:t>
            </a:r>
          </a:p>
          <a:p>
            <a:r>
              <a:rPr lang="en-US" sz="1267" dirty="0">
                <a:solidFill>
                  <a:srgbClr val="FFFFFF"/>
                </a:solidFill>
                <a:latin typeface="Calibri"/>
              </a:rPr>
              <a:t>Build </a:t>
            </a:r>
            <a:r>
              <a:rPr lang="en-US" sz="1267" dirty="0" err="1">
                <a:solidFill>
                  <a:srgbClr val="FFFFFF"/>
                </a:solidFill>
                <a:latin typeface="Calibri"/>
              </a:rPr>
              <a:t>pangnome</a:t>
            </a:r>
            <a:r>
              <a:rPr lang="en-US" sz="1267" dirty="0">
                <a:solidFill>
                  <a:srgbClr val="FFFFFF"/>
                </a:solidFill>
                <a:latin typeface="Calibri"/>
              </a:rPr>
              <a:t> using known driver cancer SVs and small variants using </a:t>
            </a:r>
            <a:r>
              <a:rPr lang="en-US" sz="1267" dirty="0" err="1">
                <a:solidFill>
                  <a:srgbClr val="FFFFFF"/>
                </a:solidFill>
                <a:latin typeface="Calibri"/>
              </a:rPr>
              <a:t>svaha</a:t>
            </a:r>
            <a:r>
              <a:rPr lang="en-US" sz="1267" dirty="0">
                <a:solidFill>
                  <a:srgbClr val="FFFFFF"/>
                </a:solidFill>
                <a:latin typeface="Calibri"/>
              </a:rPr>
              <a:t> and vg </a:t>
            </a:r>
            <a:r>
              <a:rPr lang="en-US" sz="1267" dirty="0" err="1">
                <a:solidFill>
                  <a:srgbClr val="FFFFFF"/>
                </a:solidFill>
                <a:latin typeface="Calibri"/>
              </a:rPr>
              <a:t>autoindex</a:t>
            </a:r>
            <a:endParaRPr lang="en-US" sz="1267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69664" y="1853184"/>
            <a:ext cx="3316224" cy="1243584"/>
          </a:xfrm>
          <a:prstGeom prst="roundRect">
            <a:avLst>
              <a:gd name="adj" fmla="val 8823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364736" y="2038897"/>
            <a:ext cx="2926080" cy="8721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33" b="1" dirty="0">
                <a:solidFill>
                  <a:srgbClr val="FFFFFF"/>
                </a:solidFill>
                <a:latin typeface="Calibri"/>
              </a:rPr>
              <a:t>2  </a:t>
            </a:r>
            <a:r>
              <a:rPr sz="1533" b="1" dirty="0">
                <a:solidFill>
                  <a:srgbClr val="FFFFFF"/>
                </a:solidFill>
                <a:latin typeface="Courier New"/>
              </a:rPr>
              <a:t>CALL_RECURRENT_VARIANTS</a:t>
            </a:r>
          </a:p>
          <a:p>
            <a:pPr algn="l">
              <a:lnSpc>
                <a:spcPct val="100000"/>
              </a:lnSpc>
            </a:pPr>
            <a:r>
              <a:rPr lang="en-US" sz="1267" dirty="0">
                <a:solidFill>
                  <a:srgbClr val="FFFFFF"/>
                </a:solidFill>
                <a:latin typeface="Calibri"/>
              </a:rPr>
              <a:t>Map and call variants using </a:t>
            </a:r>
            <a:r>
              <a:rPr lang="en-US" sz="1267" dirty="0" err="1">
                <a:solidFill>
                  <a:srgbClr val="FFFFFF"/>
                </a:solidFill>
                <a:latin typeface="Calibri"/>
              </a:rPr>
              <a:t>pangnome</a:t>
            </a:r>
            <a:r>
              <a:rPr lang="en-US" sz="1267" dirty="0">
                <a:solidFill>
                  <a:srgbClr val="FFFFFF"/>
                </a:solidFill>
                <a:latin typeface="Calibri"/>
              </a:rPr>
              <a:t> and vg / giraffe, filter for known tumor somatic variants</a:t>
            </a:r>
            <a:endParaRPr sz="1267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69664" y="3706368"/>
            <a:ext cx="3316224" cy="1243584"/>
          </a:xfrm>
          <a:prstGeom prst="roundRect">
            <a:avLst>
              <a:gd name="adj" fmla="val 8823"/>
            </a:avLst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364736" y="3794586"/>
            <a:ext cx="2926080" cy="10671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33" b="1" dirty="0">
                <a:solidFill>
                  <a:srgbClr val="FFFFFF"/>
                </a:solidFill>
                <a:latin typeface="Calibri"/>
              </a:rPr>
              <a:t>3  </a:t>
            </a:r>
            <a:r>
              <a:rPr sz="1533" b="1" dirty="0">
                <a:solidFill>
                  <a:srgbClr val="FFFFFF"/>
                </a:solidFill>
                <a:latin typeface="Courier New"/>
              </a:rPr>
              <a:t>CALL_PERSONAL_VARIANTS</a:t>
            </a:r>
          </a:p>
          <a:p>
            <a:pPr algn="l">
              <a:lnSpc>
                <a:spcPct val="100000"/>
              </a:lnSpc>
            </a:pPr>
            <a:r>
              <a:rPr lang="en-US" sz="1267" dirty="0">
                <a:solidFill>
                  <a:srgbClr val="FFFFFF"/>
                </a:solidFill>
                <a:latin typeface="Calibri"/>
              </a:rPr>
              <a:t>Map and call variants using linear reference, </a:t>
            </a:r>
            <a:r>
              <a:rPr lang="en-US" sz="1267" dirty="0" err="1">
                <a:solidFill>
                  <a:srgbClr val="FFFFFF"/>
                </a:solidFill>
                <a:latin typeface="Calibri"/>
              </a:rPr>
              <a:t>DeepSomatic</a:t>
            </a:r>
            <a:r>
              <a:rPr lang="en-US" sz="1267" dirty="0">
                <a:solidFill>
                  <a:srgbClr val="FFFFFF"/>
                </a:solidFill>
                <a:latin typeface="Calibri"/>
              </a:rPr>
              <a:t>, and Sniffles2 to find tumor-specific and novel variants for neoantigen targets</a:t>
            </a:r>
            <a:endParaRPr sz="1267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93024" y="2779775"/>
            <a:ext cx="3389376" cy="1243584"/>
          </a:xfrm>
          <a:prstGeom prst="roundRect">
            <a:avLst>
              <a:gd name="adj" fmla="val 8823"/>
            </a:avLst>
          </a:prstGeom>
          <a:solidFill>
            <a:srgbClr val="23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388096" y="3160476"/>
            <a:ext cx="2999232" cy="4821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33" b="1">
                <a:solidFill>
                  <a:srgbClr val="FFFFFF"/>
                </a:solidFill>
                <a:latin typeface="Calibri"/>
              </a:rPr>
              <a:t>→  </a:t>
            </a:r>
            <a:r>
              <a:rPr sz="1533" b="1">
                <a:solidFill>
                  <a:srgbClr val="FFFFFF"/>
                </a:solidFill>
                <a:latin typeface="Courier New"/>
              </a:rPr>
              <a:t>SOMATIC FILTER + QC</a:t>
            </a:r>
          </a:p>
          <a:p>
            <a:pPr algn="l">
              <a:lnSpc>
                <a:spcPct val="100000"/>
              </a:lnSpc>
            </a:pPr>
            <a:r>
              <a:rPr sz="1267">
                <a:solidFill>
                  <a:srgbClr val="FFFFFF"/>
                </a:solidFill>
                <a:latin typeface="Calibri"/>
              </a:rPr>
              <a:t>tumor-only calls, benchmarked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718560" y="2560320"/>
            <a:ext cx="402336" cy="633984"/>
          </a:xfrm>
          <a:prstGeom prst="line">
            <a:avLst/>
          </a:prstGeom>
          <a:ln w="19050">
            <a:solidFill>
              <a:srgbClr val="9C98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85888" y="2474976"/>
            <a:ext cx="658368" cy="670561"/>
          </a:xfrm>
          <a:prstGeom prst="line">
            <a:avLst/>
          </a:prstGeom>
          <a:ln w="19050">
            <a:solidFill>
              <a:srgbClr val="9C98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85888" y="3657600"/>
            <a:ext cx="658368" cy="670560"/>
          </a:xfrm>
          <a:prstGeom prst="line">
            <a:avLst/>
          </a:prstGeom>
          <a:ln w="19050">
            <a:solidFill>
              <a:srgbClr val="9C98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9600" y="5291328"/>
            <a:ext cx="10972800" cy="902208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" panose="02040503050406030204" pitchFamily="18" charset="0"/>
              </a:rPr>
              <a:t>Method is to be benchmarked and tested using tumor/normal samples from the GIAB cancer dataset (HG008) – Illumina short-reads and PacBio HiFi long-reads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mbria" panose="02040503050406030204" pitchFamily="18" charset="0"/>
              </a:rPr>
              <a:t>Known SV drivers to be taken from public datasets on </a:t>
            </a:r>
            <a:r>
              <a:rPr lang="en-US" sz="1200" dirty="0" err="1">
                <a:solidFill>
                  <a:schemeClr val="tx1"/>
                </a:solidFill>
                <a:latin typeface="Cambria" panose="02040503050406030204" pitchFamily="18" charset="0"/>
              </a:rPr>
              <a:t>cBioPortal</a:t>
            </a:r>
            <a:endParaRPr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4218432"/>
            <a:ext cx="3108960" cy="83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67">
                <a:solidFill>
                  <a:srgbClr val="6E6E7A"/>
                </a:solidFill>
                <a:latin typeface="Calibri"/>
              </a:rPr>
              <a:t>Nextflow DSL2. One pinned container per process. Docker and Singularity profiles. Parabricks GPU modules swap in without changing the subworkflow.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452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213" dirty="0">
                <a:solidFill>
                  <a:srgbClr val="8A2E5D"/>
                </a:solidFill>
                <a:latin typeface="Calibri"/>
              </a:rPr>
              <a:t>ACCOMPLISHED 1 OF </a:t>
            </a:r>
            <a:r>
              <a:rPr lang="en-US" sz="1400" b="1" spc="213" dirty="0">
                <a:solidFill>
                  <a:srgbClr val="8A2E5D"/>
                </a:solidFill>
                <a:latin typeface="Calibri"/>
              </a:rPr>
              <a:t>3</a:t>
            </a:r>
            <a:endParaRPr sz="1400" b="1" spc="213" dirty="0">
              <a:solidFill>
                <a:srgbClr val="8A2E5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755905"/>
            <a:ext cx="10972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23232B"/>
                </a:solidFill>
                <a:latin typeface="Cambria"/>
              </a:rPr>
              <a:t>BUILD_DRIVER_PANGENOME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780033"/>
            <a:ext cx="5547360" cy="3305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67"/>
              </a:spcAft>
            </a:pPr>
            <a:r>
              <a:rPr sz="1267" b="1" spc="173">
                <a:solidFill>
                  <a:srgbClr val="8A2E5D"/>
                </a:solidFill>
                <a:latin typeface="Calibri"/>
              </a:rPr>
              <a:t>IMPLEMENTED AND WIRED</a:t>
            </a:r>
          </a:p>
          <a:p>
            <a:pPr>
              <a:spcAft>
                <a:spcPts val="400"/>
              </a:spcAft>
            </a:pPr>
            <a:r>
              <a:rPr sz="1533" b="1">
                <a:solidFill>
                  <a:srgbClr val="23232B"/>
                </a:solidFill>
                <a:latin typeface="Courier New"/>
              </a:rPr>
              <a:t>SVAHA3_BUILD_GRAPH</a:t>
            </a:r>
          </a:p>
          <a:p>
            <a:pPr>
              <a:lnSpc>
                <a:spcPct val="110000"/>
              </a:lnSpc>
              <a:spcAft>
                <a:spcPts val="1333"/>
              </a:spcAft>
            </a:pPr>
            <a:r>
              <a:rPr sz="1467">
                <a:solidFill>
                  <a:srgbClr val="6E6E7A"/>
                </a:solidFill>
                <a:latin typeface="Calibri"/>
              </a:rPr>
              <a:t>Reads a manifest TSV of variant files (small_vcf, small_maf, sv_vcf, sv_tsv, sv_bedpe), builds each into the graph against the linear reference, emits GFA. Any subset of types is allowed.</a:t>
            </a:r>
          </a:p>
          <a:p>
            <a:pPr>
              <a:spcAft>
                <a:spcPts val="400"/>
              </a:spcAft>
            </a:pPr>
            <a:r>
              <a:rPr sz="1533" b="1">
                <a:solidFill>
                  <a:srgbClr val="23232B"/>
                </a:solidFill>
                <a:latin typeface="Courier New"/>
              </a:rPr>
              <a:t>VG_AUTOINDEX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67">
                <a:solidFill>
                  <a:srgbClr val="6E6E7A"/>
                </a:solidFill>
                <a:latin typeface="Calibri"/>
              </a:rPr>
              <a:t>vg 1.76.1, autoindex -w giraffe. Produces the GBZ graph plus the full giraffe index set, published to &lt;outdir&gt;/pangenome.</a:t>
            </a:r>
          </a:p>
          <a:p>
            <a:pPr>
              <a:spcAft>
                <a:spcPts val="800"/>
              </a:spcAft>
            </a:pPr>
            <a:r>
              <a:rPr sz="1267" b="1" spc="173">
                <a:solidFill>
                  <a:srgbClr val="8A2E5D"/>
                </a:solidFill>
                <a:latin typeface="Calibri"/>
              </a:rPr>
              <a:t>WIRED INTO main.nf</a:t>
            </a:r>
          </a:p>
          <a:p>
            <a:pPr algn="l">
              <a:lnSpc>
                <a:spcPct val="110000"/>
              </a:lnSpc>
            </a:pPr>
            <a:r>
              <a:rPr sz="1467">
                <a:solidFill>
                  <a:srgbClr val="6E6E7A"/>
                </a:solidFill>
                <a:latin typeface="Calibri"/>
              </a:rPr>
              <a:t>BUILD_DRIVER_PANGENOME() is called directly from the entry workflow - the only subworkflow currently active.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61760" y="1780032"/>
            <a:ext cx="5120640" cy="1633728"/>
          </a:xfrm>
          <a:prstGeom prst="roundRect">
            <a:avLst>
              <a:gd name="adj" fmla="val 6716"/>
            </a:avLst>
          </a:prstGeom>
          <a:solidFill>
            <a:srgbClr val="1F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6729984" y="1999489"/>
            <a:ext cx="4584192" cy="1012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33">
                <a:solidFill>
                  <a:srgbClr val="9FE3B4"/>
                </a:solidFill>
                <a:latin typeface="Courier New"/>
              </a:rPr>
              <a:t>nextflow run main.nf \</a:t>
            </a:r>
          </a:p>
          <a:p>
            <a:pPr algn="l">
              <a:lnSpc>
                <a:spcPct val="125000"/>
              </a:lnSpc>
            </a:pPr>
            <a:r>
              <a:rPr sz="1333">
                <a:solidFill>
                  <a:srgbClr val="C9C3E0"/>
                </a:solidFill>
                <a:latin typeface="Courier New"/>
              </a:rPr>
              <a:t>  --reference GRCh38.fa \</a:t>
            </a:r>
          </a:p>
          <a:p>
            <a:pPr algn="l">
              <a:lnSpc>
                <a:spcPct val="125000"/>
              </a:lnSpc>
            </a:pPr>
            <a:r>
              <a:rPr sz="1333">
                <a:solidFill>
                  <a:srgbClr val="C9C3E0"/>
                </a:solidFill>
                <a:latin typeface="Courier New"/>
              </a:rPr>
              <a:t>  --variants  variants.tsv \</a:t>
            </a:r>
          </a:p>
          <a:p>
            <a:pPr algn="l">
              <a:lnSpc>
                <a:spcPct val="125000"/>
              </a:lnSpc>
            </a:pPr>
            <a:r>
              <a:rPr sz="1333">
                <a:solidFill>
                  <a:srgbClr val="C9C3E0"/>
                </a:solidFill>
                <a:latin typeface="Courier New"/>
              </a:rPr>
              <a:t>  --outdir    results/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61760" y="3608832"/>
            <a:ext cx="5120640" cy="2267712"/>
          </a:xfrm>
          <a:prstGeom prst="roundRect">
            <a:avLst>
              <a:gd name="adj" fmla="val 4838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754368" y="3852672"/>
            <a:ext cx="45354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 spc="173">
                <a:solidFill>
                  <a:srgbClr val="8A2E5D"/>
                </a:solidFill>
                <a:latin typeface="Calibri"/>
              </a:rPr>
              <a:t>PUBLISHED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4368" y="4267201"/>
            <a:ext cx="4535424" cy="1298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33">
                <a:solidFill>
                  <a:srgbClr val="23232B"/>
                </a:solidFill>
                <a:latin typeface="Courier New"/>
              </a:rPr>
              <a:t>driver_pangenome.gfa
driver_pangenome.gbz
driver_pangenome.dist
driver_pangenome.shortread.withzip.min
driver_pangenome.shortread.zipcodes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452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213" dirty="0">
                <a:solidFill>
                  <a:srgbClr val="0E7C7B"/>
                </a:solidFill>
                <a:latin typeface="Calibri"/>
              </a:rPr>
              <a:t>ACCOMPLISHED </a:t>
            </a:r>
            <a:r>
              <a:rPr lang="en-US" sz="1400" b="1" spc="213" dirty="0">
                <a:solidFill>
                  <a:srgbClr val="0E7C7B"/>
                </a:solidFill>
                <a:latin typeface="Calibri"/>
              </a:rPr>
              <a:t>2</a:t>
            </a:r>
            <a:r>
              <a:rPr sz="1400" b="1" spc="213" dirty="0">
                <a:solidFill>
                  <a:srgbClr val="0E7C7B"/>
                </a:solidFill>
                <a:latin typeface="Calibri"/>
              </a:rPr>
              <a:t> OF </a:t>
            </a:r>
            <a:r>
              <a:rPr lang="en-US" sz="1400" b="1" spc="213" dirty="0">
                <a:solidFill>
                  <a:srgbClr val="0E7C7B"/>
                </a:solidFill>
                <a:latin typeface="Calibri"/>
              </a:rPr>
              <a:t>3</a:t>
            </a:r>
            <a:endParaRPr sz="1400" b="1" spc="213" dirty="0">
              <a:solidFill>
                <a:srgbClr val="0E7C7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755904"/>
            <a:ext cx="10972800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23232B"/>
                </a:solidFill>
                <a:latin typeface="Cambria"/>
              </a:rPr>
              <a:t>CALL_RECURRENT_VARIANTS  ·  the graph 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1" y="1804416"/>
            <a:ext cx="5303519" cy="2194560"/>
          </a:xfrm>
          <a:prstGeom prst="roundRect">
            <a:avLst>
              <a:gd name="adj" fmla="val 5000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902209" y="2048256"/>
            <a:ext cx="4718303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 spc="173">
                <a:solidFill>
                  <a:srgbClr val="0E7C7B"/>
                </a:solidFill>
                <a:latin typeface="Calibri"/>
              </a:rPr>
              <a:t>FINISHED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209" y="2462784"/>
            <a:ext cx="4718303" cy="1318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67"/>
              </a:spcAft>
            </a:pPr>
            <a:r>
              <a:rPr sz="1467" b="1" dirty="0">
                <a:solidFill>
                  <a:srgbClr val="23232B"/>
                </a:solidFill>
                <a:latin typeface="Courier New"/>
              </a:rPr>
              <a:t>PARABRICKS_PANGENOME_AWARE</a:t>
            </a:r>
            <a:r>
              <a:rPr lang="en-US" sz="1467" b="1" dirty="0">
                <a:solidFill>
                  <a:srgbClr val="23232B"/>
                </a:solidFill>
                <a:latin typeface="Courier New"/>
              </a:rPr>
              <a:t>_DEEPVARIANT</a:t>
            </a:r>
            <a:r>
              <a:rPr sz="1467" b="1" dirty="0">
                <a:solidFill>
                  <a:srgbClr val="23232B"/>
                </a:solidFill>
                <a:latin typeface="Courier New"/>
              </a:rPr>
              <a:t>
DEEPVARIANT_CALL</a:t>
            </a:r>
          </a:p>
          <a:p>
            <a:pPr algn="l">
              <a:lnSpc>
                <a:spcPct val="108000"/>
              </a:lnSpc>
            </a:pPr>
            <a:r>
              <a:rPr sz="1400" dirty="0">
                <a:solidFill>
                  <a:srgbClr val="6E6E7A"/>
                </a:solidFill>
                <a:latin typeface="Calibri"/>
              </a:rPr>
              <a:t>Takes (reference, GBZ pangenome, BAM) and emits VCF + TBI via </a:t>
            </a:r>
            <a:r>
              <a:rPr sz="1400" dirty="0" err="1">
                <a:solidFill>
                  <a:srgbClr val="6E6E7A"/>
                </a:solidFill>
                <a:latin typeface="Calibri"/>
              </a:rPr>
              <a:t>pbrun</a:t>
            </a:r>
            <a:r>
              <a:rPr sz="1400" dirty="0">
                <a:solidFill>
                  <a:srgbClr val="6E6E7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6E6E7A"/>
                </a:solidFill>
                <a:latin typeface="Calibri"/>
              </a:rPr>
              <a:t>pangenome_aware_deepvariant</a:t>
            </a:r>
            <a:r>
              <a:rPr sz="1400" dirty="0">
                <a:solidFill>
                  <a:srgbClr val="6E6E7A"/>
                </a:solidFill>
                <a:latin typeface="Calibri"/>
              </a:rPr>
              <a:t>, with an optional --</a:t>
            </a:r>
            <a:r>
              <a:rPr sz="1400" dirty="0" err="1">
                <a:solidFill>
                  <a:srgbClr val="6E6E7A"/>
                </a:solidFill>
                <a:latin typeface="Calibri"/>
              </a:rPr>
              <a:t>sbx</a:t>
            </a:r>
            <a:r>
              <a:rPr sz="1400" dirty="0">
                <a:solidFill>
                  <a:srgbClr val="6E6E7A"/>
                </a:solidFill>
                <a:latin typeface="Calibri"/>
              </a:rPr>
              <a:t>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881" y="1804416"/>
            <a:ext cx="5303519" cy="2194560"/>
          </a:xfrm>
          <a:prstGeom prst="roundRect">
            <a:avLst>
              <a:gd name="adj" fmla="val 5000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571489" y="2048256"/>
            <a:ext cx="4718303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 spc="173">
                <a:solidFill>
                  <a:srgbClr val="9C98A8"/>
                </a:solidFill>
                <a:latin typeface="Calibri"/>
              </a:rPr>
              <a:t>SCAFFOLDED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489" y="2462785"/>
            <a:ext cx="4718303" cy="992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67"/>
              </a:spcAft>
            </a:pPr>
            <a:r>
              <a:rPr sz="1400" b="1">
                <a:solidFill>
                  <a:srgbClr val="23232B"/>
                </a:solidFill>
                <a:latin typeface="Courier New"/>
              </a:rPr>
              <a:t>VG_GIRAFFE   ·   VG_PACK   ·   VG_CALL</a:t>
            </a:r>
          </a:p>
          <a:p>
            <a:pPr algn="l">
              <a:lnSpc>
                <a:spcPct val="108000"/>
              </a:lnSpc>
            </a:pPr>
            <a:r>
              <a:rPr sz="1400">
                <a:solidFill>
                  <a:srgbClr val="6E6E7A"/>
                </a:solidFill>
                <a:latin typeface="Calibri"/>
              </a:rPr>
              <a:t>All three pinned to vg 1.76.1 (biocontainers, with a Galaxy Singularity mirror). PARABRICKS_VG_GIRAFFE is scaffolded as the GPU swap. Process bodies outstanding.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4267200"/>
            <a:ext cx="10972800" cy="1658112"/>
          </a:xfrm>
          <a:prstGeom prst="roundRect">
            <a:avLst>
              <a:gd name="adj" fmla="val 6617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926592" y="4511040"/>
            <a:ext cx="10338816" cy="1005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67"/>
              </a:spcAft>
            </a:pPr>
            <a:r>
              <a:rPr sz="1333" b="1" spc="133">
                <a:solidFill>
                  <a:srgbClr val="23232B"/>
                </a:solidFill>
                <a:latin typeface="Calibri"/>
              </a:rPr>
              <a:t>Also scaffolded in this arm</a:t>
            </a:r>
          </a:p>
          <a:p>
            <a:pPr>
              <a:spcAft>
                <a:spcPts val="533"/>
              </a:spcAft>
            </a:pPr>
            <a:r>
              <a:rPr sz="1400" b="1">
                <a:solidFill>
                  <a:srgbClr val="23232B"/>
                </a:solidFill>
                <a:latin typeface="Courier New"/>
              </a:rPr>
              <a:t>SAMTOOLS_BAM2FASTQ</a:t>
            </a:r>
            <a:r>
              <a:rPr sz="1400">
                <a:solidFill>
                  <a:srgbClr val="6E6E7A"/>
                </a:solidFill>
                <a:latin typeface="Calibri"/>
              </a:rPr>
              <a:t>  — GIAB ships aligned BAMs and giraffe wants FASTQ, so the round trip (with a name sort) is a real dependency, not boilerplate.</a:t>
            </a:r>
          </a:p>
          <a:p>
            <a:pPr algn="l"/>
            <a:r>
              <a:rPr sz="1400" b="1">
                <a:solidFill>
                  <a:srgbClr val="23232B"/>
                </a:solidFill>
                <a:latin typeface="Courier New"/>
              </a:rPr>
              <a:t>FILTER_SOMATIC_VARIANTS</a:t>
            </a:r>
            <a:r>
              <a:rPr sz="1400">
                <a:solidFill>
                  <a:srgbClr val="6E6E7A"/>
                </a:solidFill>
                <a:latin typeface="Calibri"/>
              </a:rPr>
              <a:t>  and  </a:t>
            </a:r>
            <a:r>
              <a:rPr sz="1400" b="1">
                <a:solidFill>
                  <a:srgbClr val="23232B"/>
                </a:solidFill>
                <a:latin typeface="Courier New"/>
              </a:rPr>
              <a:t>COLLECT_QC_REPORT</a:t>
            </a:r>
            <a:r>
              <a:rPr sz="1400">
                <a:solidFill>
                  <a:srgbClr val="6E6E7A"/>
                </a:solidFill>
                <a:latin typeface="Calibri"/>
              </a:rPr>
              <a:t>  — shared by both 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452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213" dirty="0">
                <a:solidFill>
                  <a:srgbClr val="D9822B"/>
                </a:solidFill>
                <a:latin typeface="Calibri"/>
              </a:rPr>
              <a:t>ACCOMPLISHED </a:t>
            </a:r>
            <a:r>
              <a:rPr lang="en-US" sz="1400" b="1" spc="213" dirty="0">
                <a:solidFill>
                  <a:srgbClr val="D9822B"/>
                </a:solidFill>
                <a:latin typeface="Calibri"/>
              </a:rPr>
              <a:t>3</a:t>
            </a:r>
            <a:r>
              <a:rPr sz="1400" b="1" spc="213" dirty="0">
                <a:solidFill>
                  <a:srgbClr val="D9822B"/>
                </a:solidFill>
                <a:latin typeface="Calibri"/>
              </a:rPr>
              <a:t> OF </a:t>
            </a:r>
            <a:r>
              <a:rPr lang="en-US" sz="1400" b="1" spc="213" dirty="0">
                <a:solidFill>
                  <a:srgbClr val="D9822B"/>
                </a:solidFill>
                <a:latin typeface="Calibri"/>
              </a:rPr>
              <a:t>3</a:t>
            </a:r>
            <a:endParaRPr sz="1400" b="1" spc="213" dirty="0">
              <a:solidFill>
                <a:srgbClr val="D9822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755904"/>
            <a:ext cx="10972800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23232B"/>
                </a:solidFill>
                <a:latin typeface="Cambria"/>
              </a:rPr>
              <a:t>CALL_PERSONAL_VARIANTS  ·  the linear 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804416"/>
            <a:ext cx="10972800" cy="950976"/>
          </a:xfrm>
          <a:prstGeom prst="roundRect">
            <a:avLst>
              <a:gd name="adj" fmla="val 11538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Oval 4"/>
          <p:cNvSpPr/>
          <p:nvPr/>
        </p:nvSpPr>
        <p:spPr>
          <a:xfrm>
            <a:off x="877824" y="2121408"/>
            <a:ext cx="195072" cy="195072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243584" y="1962913"/>
            <a:ext cx="10241280" cy="49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67"/>
              </a:spcAft>
            </a:pPr>
            <a:r>
              <a:rPr sz="1533" b="1">
                <a:solidFill>
                  <a:srgbClr val="23232B"/>
                </a:solidFill>
                <a:latin typeface="Courier New"/>
              </a:rPr>
              <a:t>MINIMAP2_ALIGN</a:t>
            </a:r>
            <a:r>
              <a:rPr sz="1267" b="1">
                <a:solidFill>
                  <a:srgbClr val="3D8B5F"/>
                </a:solidFill>
                <a:latin typeface="Calibri"/>
              </a:rPr>
              <a:t>     implemented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6E6E7A"/>
                </a:solidFill>
                <a:latin typeface="Calibri"/>
              </a:rPr>
              <a:t>CPU long-read alignment, preset configurable via task.ext.preset, piped into samtools sort and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852928"/>
            <a:ext cx="10972800" cy="950976"/>
          </a:xfrm>
          <a:prstGeom prst="roundRect">
            <a:avLst>
              <a:gd name="adj" fmla="val 11538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Oval 7"/>
          <p:cNvSpPr/>
          <p:nvPr/>
        </p:nvSpPr>
        <p:spPr>
          <a:xfrm>
            <a:off x="877824" y="3169919"/>
            <a:ext cx="195072" cy="195072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243584" y="3011425"/>
            <a:ext cx="10241280" cy="49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67"/>
              </a:spcAft>
            </a:pPr>
            <a:r>
              <a:rPr sz="1533" b="1">
                <a:solidFill>
                  <a:srgbClr val="23232B"/>
                </a:solidFill>
                <a:latin typeface="Courier New"/>
              </a:rPr>
              <a:t>PARABRICKS_MINIMAP2_ALIGN</a:t>
            </a:r>
            <a:r>
              <a:rPr sz="1267" b="1">
                <a:solidFill>
                  <a:srgbClr val="3D8B5F"/>
                </a:solidFill>
                <a:latin typeface="Calibri"/>
              </a:rPr>
              <a:t>     implemented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6E6E7A"/>
                </a:solidFill>
                <a:latin typeface="Calibri"/>
              </a:rPr>
              <a:t>GPU alignment via pbrun minimap2. Emits the same bam/bai contract, so it swaps in without touching the subworkflow.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901439"/>
            <a:ext cx="10972800" cy="950976"/>
          </a:xfrm>
          <a:prstGeom prst="roundRect">
            <a:avLst>
              <a:gd name="adj" fmla="val 11538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Oval 10"/>
          <p:cNvSpPr/>
          <p:nvPr/>
        </p:nvSpPr>
        <p:spPr>
          <a:xfrm>
            <a:off x="877824" y="4218432"/>
            <a:ext cx="195072" cy="195072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43584" y="4059936"/>
            <a:ext cx="10241280" cy="49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67"/>
              </a:spcAft>
            </a:pPr>
            <a:r>
              <a:rPr sz="1533" b="1">
                <a:solidFill>
                  <a:srgbClr val="23232B"/>
                </a:solidFill>
                <a:latin typeface="Courier New"/>
              </a:rPr>
              <a:t>SNIFFLES2_CALL</a:t>
            </a:r>
            <a:r>
              <a:rPr sz="1267" b="1">
                <a:solidFill>
                  <a:srgbClr val="3D8B5F"/>
                </a:solidFill>
                <a:latin typeface="Calibri"/>
              </a:rPr>
              <a:t>     implemented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6E6E7A"/>
                </a:solidFill>
                <a:latin typeface="Calibri"/>
              </a:rPr>
              <a:t>Full nf-core-form SV caller: tandem-repeat input, optional .snf, versions.yml, stub block, Seqera container.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949951"/>
            <a:ext cx="1097280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Oval 13"/>
          <p:cNvSpPr/>
          <p:nvPr/>
        </p:nvSpPr>
        <p:spPr>
          <a:xfrm>
            <a:off x="877824" y="5266943"/>
            <a:ext cx="195072" cy="195072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243584" y="5108448"/>
            <a:ext cx="10241280" cy="49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67"/>
              </a:spcAft>
            </a:pPr>
            <a:r>
              <a:rPr sz="1533" b="1">
                <a:solidFill>
                  <a:srgbClr val="23232B"/>
                </a:solidFill>
                <a:latin typeface="Courier New"/>
              </a:rPr>
              <a:t>DEEPSOMATIC_CALL</a:t>
            </a:r>
            <a:r>
              <a:rPr sz="1267" b="1">
                <a:solidFill>
                  <a:srgbClr val="9C98A8"/>
                </a:solidFill>
                <a:latin typeface="Calibri"/>
              </a:rPr>
              <a:t>     scaffold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6E6E7A"/>
                </a:solidFill>
                <a:latin typeface="Calibri"/>
              </a:rPr>
              <a:t>Container pinned (google/deepsomatic:1.7.0). Process body outstanding, alongside its Parabricks twin.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71616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1">
                <a:solidFill>
                  <a:srgbClr val="6E6E7A"/>
                </a:solidFill>
                <a:latin typeface="Calibri"/>
              </a:rPr>
              <a:t>CPU and GPU modules share an identical emit contract - that is what makes the GPU path an optional profile rather than a fork of the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452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213">
                <a:solidFill>
                  <a:srgbClr val="23232B"/>
                </a:solidFill>
                <a:latin typeface="Calibri"/>
              </a:rPr>
              <a:t>WHERE THE CODE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5905"/>
            <a:ext cx="10972800" cy="545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3733" b="1" dirty="0">
                <a:solidFill>
                  <a:srgbClr val="23232B"/>
                </a:solidFill>
                <a:latin typeface="Cambria"/>
              </a:rPr>
              <a:t>What we actually have done so far</a:t>
            </a:r>
            <a:endParaRPr sz="3733" b="1" dirty="0">
              <a:solidFill>
                <a:srgbClr val="23232B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1" y="1804416"/>
            <a:ext cx="5303519" cy="4072128"/>
          </a:xfrm>
          <a:prstGeom prst="roundRect">
            <a:avLst>
              <a:gd name="adj" fmla="val 2694"/>
            </a:avLst>
          </a:prstGeom>
          <a:solidFill>
            <a:srgbClr val="F4F2F8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902209" y="2023873"/>
            <a:ext cx="4718303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 b="1" spc="173">
                <a:solidFill>
                  <a:srgbClr val="3D8B5F"/>
                </a:solidFill>
                <a:latin typeface="Calibri"/>
              </a:rPr>
              <a:t>IMPLEMENTED  ·  6</a:t>
            </a:r>
          </a:p>
        </p:txBody>
      </p:sp>
      <p:sp>
        <p:nvSpPr>
          <p:cNvPr id="6" name="Oval 5"/>
          <p:cNvSpPr/>
          <p:nvPr/>
        </p:nvSpPr>
        <p:spPr>
          <a:xfrm>
            <a:off x="902208" y="2572512"/>
            <a:ext cx="158496" cy="158496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219201" y="2550134"/>
            <a:ext cx="440131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23232B"/>
                </a:solidFill>
                <a:latin typeface="Courier New"/>
              </a:rPr>
              <a:t>svaha3/build_graph</a:t>
            </a:r>
          </a:p>
        </p:txBody>
      </p:sp>
      <p:sp>
        <p:nvSpPr>
          <p:cNvPr id="8" name="Oval 7"/>
          <p:cNvSpPr/>
          <p:nvPr/>
        </p:nvSpPr>
        <p:spPr>
          <a:xfrm>
            <a:off x="902208" y="2938271"/>
            <a:ext cx="158496" cy="158496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219201" y="2915894"/>
            <a:ext cx="440131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23232B"/>
                </a:solidFill>
                <a:latin typeface="Courier New"/>
              </a:rPr>
              <a:t>vg/autoindex</a:t>
            </a:r>
          </a:p>
        </p:txBody>
      </p:sp>
      <p:sp>
        <p:nvSpPr>
          <p:cNvPr id="10" name="Oval 9"/>
          <p:cNvSpPr/>
          <p:nvPr/>
        </p:nvSpPr>
        <p:spPr>
          <a:xfrm>
            <a:off x="902208" y="3304032"/>
            <a:ext cx="158496" cy="158496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19201" y="3281654"/>
            <a:ext cx="440131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23232B"/>
                </a:solidFill>
                <a:latin typeface="Courier New"/>
              </a:rPr>
              <a:t>minimap2/align</a:t>
            </a:r>
          </a:p>
        </p:txBody>
      </p:sp>
      <p:sp>
        <p:nvSpPr>
          <p:cNvPr id="12" name="Oval 11"/>
          <p:cNvSpPr/>
          <p:nvPr/>
        </p:nvSpPr>
        <p:spPr>
          <a:xfrm>
            <a:off x="902208" y="3669792"/>
            <a:ext cx="158496" cy="158496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219201" y="3647414"/>
            <a:ext cx="440131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23232B"/>
                </a:solidFill>
                <a:latin typeface="Courier New"/>
              </a:rPr>
              <a:t>parabricks/minimap2/align</a:t>
            </a:r>
          </a:p>
        </p:txBody>
      </p:sp>
      <p:sp>
        <p:nvSpPr>
          <p:cNvPr id="14" name="Oval 13"/>
          <p:cNvSpPr/>
          <p:nvPr/>
        </p:nvSpPr>
        <p:spPr>
          <a:xfrm>
            <a:off x="902208" y="4035551"/>
            <a:ext cx="158496" cy="158496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219201" y="4013174"/>
            <a:ext cx="440131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23232B"/>
                </a:solidFill>
                <a:latin typeface="Courier New"/>
              </a:rPr>
              <a:t>sniffles2/call</a:t>
            </a:r>
          </a:p>
        </p:txBody>
      </p:sp>
      <p:sp>
        <p:nvSpPr>
          <p:cNvPr id="16" name="Oval 15"/>
          <p:cNvSpPr/>
          <p:nvPr/>
        </p:nvSpPr>
        <p:spPr>
          <a:xfrm>
            <a:off x="902208" y="4401312"/>
            <a:ext cx="158496" cy="158496"/>
          </a:xfrm>
          <a:prstGeom prst="ellipse">
            <a:avLst/>
          </a:prstGeom>
          <a:solidFill>
            <a:srgbClr val="3D8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219201" y="4378935"/>
            <a:ext cx="440131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>
                <a:solidFill>
                  <a:srgbClr val="23232B"/>
                </a:solidFill>
                <a:latin typeface="Courier New"/>
              </a:rPr>
              <a:t>parabricks/deepvariant/pangenome_call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879" y="1804416"/>
            <a:ext cx="5303519" cy="4072128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D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571489" y="2023873"/>
            <a:ext cx="4718303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3" b="1" spc="173">
                <a:solidFill>
                  <a:srgbClr val="9C98A8"/>
                </a:solidFill>
                <a:latin typeface="Calibri"/>
              </a:rPr>
              <a:t>SCAFFOLD ONLY  ·  10</a:t>
            </a:r>
          </a:p>
        </p:txBody>
      </p:sp>
      <p:sp>
        <p:nvSpPr>
          <p:cNvPr id="20" name="Oval 19"/>
          <p:cNvSpPr/>
          <p:nvPr/>
        </p:nvSpPr>
        <p:spPr>
          <a:xfrm>
            <a:off x="6571488" y="2572512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6888479" y="2555296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vg/giraffe</a:t>
            </a:r>
          </a:p>
        </p:txBody>
      </p:sp>
      <p:sp>
        <p:nvSpPr>
          <p:cNvPr id="22" name="Oval 21"/>
          <p:cNvSpPr/>
          <p:nvPr/>
        </p:nvSpPr>
        <p:spPr>
          <a:xfrm>
            <a:off x="6571488" y="2901696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888479" y="2884480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vg/pack</a:t>
            </a:r>
          </a:p>
        </p:txBody>
      </p:sp>
      <p:sp>
        <p:nvSpPr>
          <p:cNvPr id="24" name="Oval 23"/>
          <p:cNvSpPr/>
          <p:nvPr/>
        </p:nvSpPr>
        <p:spPr>
          <a:xfrm>
            <a:off x="6571488" y="3230880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888479" y="3213664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vg/call</a:t>
            </a:r>
          </a:p>
        </p:txBody>
      </p:sp>
      <p:sp>
        <p:nvSpPr>
          <p:cNvPr id="26" name="Oval 25"/>
          <p:cNvSpPr/>
          <p:nvPr/>
        </p:nvSpPr>
        <p:spPr>
          <a:xfrm>
            <a:off x="6571488" y="3560064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888479" y="3542848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deepsomatic/call</a:t>
            </a:r>
          </a:p>
        </p:txBody>
      </p:sp>
      <p:sp>
        <p:nvSpPr>
          <p:cNvPr id="28" name="Oval 27"/>
          <p:cNvSpPr/>
          <p:nvPr/>
        </p:nvSpPr>
        <p:spPr>
          <a:xfrm>
            <a:off x="6571488" y="3889248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888479" y="3872032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samtools/bam2fastq</a:t>
            </a:r>
          </a:p>
        </p:txBody>
      </p:sp>
      <p:sp>
        <p:nvSpPr>
          <p:cNvPr id="30" name="Oval 29"/>
          <p:cNvSpPr/>
          <p:nvPr/>
        </p:nvSpPr>
        <p:spPr>
          <a:xfrm>
            <a:off x="6571488" y="4218432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888479" y="4201216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filter_somatic_variants</a:t>
            </a:r>
          </a:p>
        </p:txBody>
      </p:sp>
      <p:sp>
        <p:nvSpPr>
          <p:cNvPr id="32" name="Oval 31"/>
          <p:cNvSpPr/>
          <p:nvPr/>
        </p:nvSpPr>
        <p:spPr>
          <a:xfrm>
            <a:off x="6571488" y="4547616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6888479" y="4530400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collect_qc_report</a:t>
            </a:r>
          </a:p>
        </p:txBody>
      </p:sp>
      <p:sp>
        <p:nvSpPr>
          <p:cNvPr id="34" name="Oval 33"/>
          <p:cNvSpPr/>
          <p:nvPr/>
        </p:nvSpPr>
        <p:spPr>
          <a:xfrm>
            <a:off x="6571488" y="4876800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6888479" y="4859584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validate_normalize_variants</a:t>
            </a:r>
          </a:p>
        </p:txBody>
      </p:sp>
      <p:sp>
        <p:nvSpPr>
          <p:cNvPr id="36" name="Oval 35"/>
          <p:cNvSpPr/>
          <p:nvPr/>
        </p:nvSpPr>
        <p:spPr>
          <a:xfrm>
            <a:off x="6571488" y="5205984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6888479" y="5188768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parabricks/vg/giraffe</a:t>
            </a:r>
          </a:p>
        </p:txBody>
      </p:sp>
      <p:sp>
        <p:nvSpPr>
          <p:cNvPr id="38" name="Oval 37"/>
          <p:cNvSpPr/>
          <p:nvPr/>
        </p:nvSpPr>
        <p:spPr>
          <a:xfrm>
            <a:off x="6571488" y="5535168"/>
            <a:ext cx="158496" cy="158496"/>
          </a:xfrm>
          <a:prstGeom prst="ellipse">
            <a:avLst/>
          </a:prstGeom>
          <a:solidFill>
            <a:srgbClr val="9C9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6888479" y="5517952"/>
            <a:ext cx="4401311" cy="205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3">
                <a:solidFill>
                  <a:srgbClr val="6E6E7A"/>
                </a:solidFill>
                <a:latin typeface="Courier New"/>
              </a:rPr>
              <a:t>parabricks/deepsomatic/call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022848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1">
                <a:solidFill>
                  <a:srgbClr val="6E6E7A"/>
                </a:solidFill>
                <a:latin typeface="Calibri"/>
              </a:rPr>
              <a:t>main.nf currently calls BUILD_DRIVER_PANGENOME only; the other two includes are commented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463A-E9F5-D098-D848-BA47EA3EE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1A70-813E-DC19-9DB8-A5559E5C6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Complete the sub-workflows for the recurrent variant and personal variant calling and test on HG008</a:t>
            </a:r>
          </a:p>
          <a:p>
            <a:r>
              <a:rPr lang="en-US" dirty="0">
                <a:latin typeface="Cambria" panose="02040503050406030204" pitchFamily="18" charset="0"/>
              </a:rPr>
              <a:t>**Risky and ambitious, but where the real impact is:</a:t>
            </a:r>
          </a:p>
          <a:p>
            <a:pPr lvl="1"/>
            <a:r>
              <a:rPr lang="en-US" dirty="0">
                <a:latin typeface="Cambria" panose="02040503050406030204" pitchFamily="18" charset="0"/>
              </a:rPr>
              <a:t>Create an agent to identify candidate neoantigens to use for vaccine development</a:t>
            </a:r>
          </a:p>
        </p:txBody>
      </p:sp>
    </p:spTree>
    <p:extLst>
      <p:ext uri="{BB962C8B-B14F-4D97-AF65-F5344CB8AC3E}">
        <p14:creationId xmlns:p14="http://schemas.microsoft.com/office/powerpoint/2010/main" val="2893846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889</Words>
  <Application>Microsoft Macintosh PowerPoint</Application>
  <PresentationFormat>Widescreen</PresentationFormat>
  <Paragraphs>82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SVantigen: Group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Damle, Nikhil</dc:creator>
  <cp:lastModifiedBy>Damle, Nikhil</cp:lastModifiedBy>
  <cp:revision>6</cp:revision>
  <dcterms:created xsi:type="dcterms:W3CDTF">2026-08-28T18:17:18Z</dcterms:created>
  <dcterms:modified xsi:type="dcterms:W3CDTF">2026-08-28T18:57:20Z</dcterms:modified>
</cp:coreProperties>
</file>